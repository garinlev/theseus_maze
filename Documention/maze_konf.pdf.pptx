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8" r:id="rId3"/>
    <p:sldId id="269" r:id="rId4"/>
    <p:sldId id="271" r:id="rId5"/>
    <p:sldId id="263" r:id="rId6"/>
    <p:sldId id="260" r:id="rId7"/>
    <p:sldId id="259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EF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9" autoAdjust="0"/>
    <p:restoredTop sz="94660"/>
  </p:normalViewPr>
  <p:slideViewPr>
    <p:cSldViewPr snapToGrid="0">
      <p:cViewPr>
        <p:scale>
          <a:sx n="50" d="100"/>
          <a:sy n="50" d="100"/>
        </p:scale>
        <p:origin x="747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EB91E-3FA3-4782-BCCD-12699E19B8CC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5370B-787A-459C-9275-73C66B97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527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 качестве основного контролера используются </a:t>
            </a:r>
            <a:r>
              <a:rPr lang="ru-RU" dirty="0" err="1"/>
              <a:t>Raspberry</a:t>
            </a:r>
            <a:r>
              <a:rPr lang="ru-RU" dirty="0"/>
              <a:t> </a:t>
            </a:r>
            <a:r>
              <a:rPr lang="ru-RU" dirty="0" err="1"/>
              <a:t>Pi</a:t>
            </a:r>
            <a:r>
              <a:rPr lang="ru-RU" dirty="0"/>
              <a:t> 5. Он используется для камер и алгоритма поиска путей. Для управления электроникой, считывания значений с датчиков </a:t>
            </a:r>
            <a:r>
              <a:rPr lang="en-US" dirty="0"/>
              <a:t>Arduino Mega 2560 Pro</a:t>
            </a:r>
            <a:r>
              <a:rPr lang="ru-RU" dirty="0"/>
              <a:t>. Связь между ними осуществлена с помощью</a:t>
            </a:r>
            <a:r>
              <a:rPr lang="en-US" dirty="0"/>
              <a:t> UART </a:t>
            </a:r>
            <a:r>
              <a:rPr lang="ru-RU" dirty="0"/>
              <a:t>и логического  преобразователя.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Для передвижения по лабиринту мы используем моторы. Для распознавания положения робота в клетке лазерные датчики VL53L0X.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783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Наш робот смоделирован в программном обеспечении Autodesk </a:t>
            </a:r>
            <a:r>
              <a:rPr lang="ru-RU" dirty="0" err="1"/>
              <a:t>inventor</a:t>
            </a:r>
            <a:r>
              <a:rPr lang="ru-RU" dirty="0"/>
              <a:t>. Робот напечатан на 3D принтере PETG или PLA пластиком.</a:t>
            </a:r>
          </a:p>
          <a:p>
            <a:endParaRPr lang="ru-RU" dirty="0"/>
          </a:p>
          <a:p>
            <a:r>
              <a:rPr lang="ru-RU" dirty="0"/>
              <a:t>Для рамы мы использовали </a:t>
            </a:r>
            <a:r>
              <a:rPr lang="ru-RU" dirty="0" err="1"/>
              <a:t>стеклонаполненный</a:t>
            </a:r>
            <a:r>
              <a:rPr lang="ru-RU" dirty="0"/>
              <a:t> пластик для улучшения прочности робота. Что бы максимально уменьшить робота для проходимости в лабиринте, был спроектирован и сварен свой аккумулятор из ячеек Li-</a:t>
            </a:r>
            <a:r>
              <a:rPr lang="ru-RU" dirty="0" err="1"/>
              <a:t>ion</a:t>
            </a:r>
            <a:r>
              <a:rPr lang="ru-RU" dirty="0"/>
              <a:t> 18650 в конфигурации 3S1P. Корпус аккумулятора обеспечивает его </a:t>
            </a:r>
            <a:r>
              <a:rPr lang="ru-RU" dirty="0" err="1"/>
              <a:t>быстросъёмность</a:t>
            </a:r>
            <a:r>
              <a:rPr lang="ru-RU" dirty="0"/>
              <a:t>, так как фиксация в корпусе происходит посредством отгибающихся лепестков.</a:t>
            </a:r>
          </a:p>
          <a:p>
            <a:endParaRPr lang="ru-RU" dirty="0"/>
          </a:p>
          <a:p>
            <a:r>
              <a:rPr lang="ru-RU" dirty="0"/>
              <a:t>Модель робота для печати была разбита на переднюю и заднюю часть, ходовую часть и систему выдачи. В передней части расположены 3 датчика, </a:t>
            </a:r>
            <a:r>
              <a:rPr lang="ru-RU" dirty="0" err="1"/>
              <a:t>концевики</a:t>
            </a:r>
            <a:r>
              <a:rPr lang="ru-RU" dirty="0"/>
              <a:t> и место под крепления макетной платы. В задней части находится сервопривод, один датчик и барабан, который при вращение сортирует наборы по разным сторонам. Система выдачи толкает наборы по горизонтальному каналу системы выдачи, после чего наборы попадают в барабан</a:t>
            </a:r>
          </a:p>
          <a:p>
            <a:r>
              <a:rPr lang="ru-RU" dirty="0"/>
              <a:t>для выдачи их к жертве. 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dirty="0"/>
              <a:t>Были спроектированы собственные колеса робота. Имеющие переменную жесткость за счет своей формы. Диски колеса распечатаны на 3D принтере, а шины отлиты из двухкомпонентного полиуретана в распечатанные формы.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787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Основным способом у нас считаются особенные колёса.</a:t>
            </a:r>
          </a:p>
          <a:p>
            <a:pPr marL="0" indent="0">
              <a:buNone/>
            </a:pPr>
            <a:r>
              <a:rPr lang="ru-RU" dirty="0"/>
              <a:t>Для этого были спроектированы собственные колеса робота. Диски колеса распечатаны на 3D принтере, а шины отлиты из двухкомпонентного полиуретана в распечатанные формы.</a:t>
            </a:r>
          </a:p>
          <a:p>
            <a:pPr marL="0" indent="0">
              <a:buNone/>
            </a:pP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Колёса имеют переменную жесткость за счет своей формы, в отличии от обычных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872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Робот принимает пакеты данных с </a:t>
            </a:r>
            <a:r>
              <a:rPr lang="ru-RU" dirty="0" err="1"/>
              <a:t>Raspberry</a:t>
            </a:r>
            <a:r>
              <a:rPr lang="ru-RU" dirty="0"/>
              <a:t> </a:t>
            </a:r>
            <a:r>
              <a:rPr lang="ru-RU" dirty="0" err="1"/>
              <a:t>Pi</a:t>
            </a:r>
            <a:r>
              <a:rPr lang="ru-RU" dirty="0"/>
              <a:t> по протоколу UART, проверяет контрольную сумму CRC8 и выполняет действие, после чего отправляет значения всех датчиков. Для поддержания заданной скорости колёс используется ПИ-регулятор.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Программа для </a:t>
            </a:r>
            <a:r>
              <a:rPr lang="ru-RU" dirty="0" err="1"/>
              <a:t>Arduino</a:t>
            </a:r>
            <a:r>
              <a:rPr lang="ru-RU" dirty="0"/>
              <a:t> Mega предназначена для управления четырьмя колёсами, сервоприводом для выдачи наборов и RGB-лентой для цветового оповещения. Код разделен на обособленные части для каждого компонента; для управления ими используется кооперативная многозадачность.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Для проезда на клетку вперёд проверяется наличие стен вокруг. При их обнаружении задействуется регулятор выравнивания угла относительно стены и центрирования положения между ними. Если во время движения приходит команда выдачи набора, программа прерывает выполнение задачи проезда и переходит в состояние выдачи. Если стены найти не удалось, используется проезд по инерциальному датчику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32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Raspberry Pi 5 </a:t>
            </a:r>
            <a:r>
              <a:rPr lang="ru-RU" dirty="0"/>
              <a:t>мы используем для разработки алгоритма езды и поиска путей. Мы едем по правой руке по лабиринту картографируя его. Когда мы попадем в замкнутый круг мы начинаем искать те клетки в которых ещё не были, а когда таких нету мы начинаем поиск проезда до начала лабиринта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Для когнитивных целей используется компьютерное зрение, программируемое на языке </a:t>
            </a:r>
            <a:r>
              <a:rPr lang="en-US" dirty="0"/>
              <a:t>python </a:t>
            </a:r>
            <a:r>
              <a:rPr lang="ru-RU" dirty="0"/>
              <a:t>с помощью библиотеки </a:t>
            </a:r>
            <a:r>
              <a:rPr lang="en-US" dirty="0"/>
              <a:t>cv2</a:t>
            </a:r>
            <a:r>
              <a:rPr lang="ru-RU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Для распознания буквенных жертв используется нейронная сеть </a:t>
            </a:r>
            <a:r>
              <a:rPr lang="en-US" dirty="0"/>
              <a:t>YOLO</a:t>
            </a:r>
            <a:r>
              <a:rPr lang="ru-RU" dirty="0"/>
              <a:t>. Мы обучаем её на основе уже сделанных фото жертв в полигоне с камер на роботе.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Для распознания буквенных жертв используется нейронная сеть </a:t>
            </a:r>
            <a:r>
              <a:rPr lang="en-US" dirty="0"/>
              <a:t>YOLO</a:t>
            </a:r>
            <a:r>
              <a:rPr lang="ru-RU" dirty="0"/>
              <a:t>. Мы обучаем её на основе уже сделанных фото жертв в полигоне с камер на роботе.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013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545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7F0322-F5EF-B9CC-BFE0-311A2F03A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BA181B-5F29-E0B7-E3C3-D5456F1B2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A6F87E-0D10-65D1-8790-C5792C230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D4935C-6554-8A0C-8FEC-BE5A6D81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E1B102-073B-B728-5C9F-A24289F48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336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7D88E4-36A6-890D-9803-3D0ABD1A8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92E9C2-85FF-750B-10DF-8E6463CD1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8EA867-DF7A-70BA-759E-F190E49BB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2BDE47-9A01-9988-D1F0-2EA921ED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0AC553-05E3-D514-738C-7F93224E0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328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B6880D-4CB4-51CB-1153-3CF94A117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36EB67-D164-1A53-10D7-6C3F0FEE0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AEB5CE-BAFF-367F-6759-0C94FFF8E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7626E0-40F3-CA59-8884-D8878285D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03BC6D-89E4-60A5-C62E-C9970C38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09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58CB1E-A1D6-9246-3EDA-1CB570397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C99AC8-40EB-8727-C332-2AF86DE22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F1F103-091A-02AE-7C79-586A93AD7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5C8362-C086-79ED-CCE8-60F7310D3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D65928-76F2-AE0B-5578-A16560AE5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CD3202-FB83-AA43-B766-612498C35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6908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47C99A-587D-14A1-7F3D-CB979D1A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3EF5EA-1B8C-B1C4-7A32-3B52AED71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8CEAED-3083-C026-8DAF-0B3B72270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587E91A-184B-382C-1F61-E8C9A3E631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8797EE-68B4-0C12-D51E-2A7EA3BC3A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9BF9A5D-7B81-F574-0D64-60F4197DD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B8AF859-F584-1C7B-4F8A-2C51D616A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7D96996-51AD-7036-376A-C5192D1F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85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B2E4C8-DB45-2355-139A-1A3E0F1D5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16E7ADC-0491-E494-A572-E2C8BB69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46E8C6-9638-34B4-D80D-D61B3284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B6662A5-F0E1-F031-B590-EB38FD4F6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373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02CE0E4-35AB-6A82-EBAB-96D7C5969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49B012-F3DE-187C-9D16-A7ED28EAA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6A856D-8E27-6828-67B1-B1DF6474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77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EA9C1F-C602-4E88-78BF-6B117457D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1DE6F5-4D06-AF33-80F5-D6490179D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3CB7FD-07EC-5895-DDD3-EC38B3A43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BDB8FC-5887-4682-9FDB-DCBF7E9EC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49EB80-80A0-9416-9818-AA150F28E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F917DE-7C10-6846-B6EB-951A5033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1638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3D7CD1-4A4D-BE4A-8BA3-7864449B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B94C2E6-AC58-B071-CB95-A5CF9E30D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382597-FC18-1109-17C3-5B394A849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1B6709-CF56-D322-8359-4D6C5DBC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E28349-B86B-9226-DC6B-385E70C06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BA4359-C081-78C0-42B6-9CE51E886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8179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033CE6-E2BA-FA66-73D1-635B854C6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FA1A1A4-468E-EDBA-EB94-ED0144A57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DE3EF5-4C05-1C16-71F4-74E81AC9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C0EDB7-EF6E-5F96-23D9-67D3E64FF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0C1E16-A3EE-3094-F58A-BCACAB172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0446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264869E-E045-0251-CB46-567FEBC40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CB3F9E-0640-FCDB-F16E-F2EC8228B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C87F77-5830-D009-8CBF-8A059329F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9A0E7E-418F-F267-32C5-33746179E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E92A9E-0026-15D9-01DF-C7E80D0A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625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BA6C61-B94C-F952-A7E9-6154798F8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093045-7828-F57E-6526-EA99A66A3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31AF98-CC0E-3E85-C06C-B5DF516CF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BC76DD-F90E-7CD9-4C8B-9B23878F9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3021CC-E7E7-AB17-2134-495927D52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8391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jpg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552362-F67F-90D4-5321-F42DB4607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3682"/>
            <a:ext cx="9144000" cy="3538127"/>
          </a:xfrm>
        </p:spPr>
        <p:txBody>
          <a:bodyPr>
            <a:normAutofit fontScale="90000"/>
          </a:bodyPr>
          <a:lstStyle/>
          <a:p>
            <a:r>
              <a:rPr lang="ru-RU" dirty="0"/>
              <a:t>Создание робота для исследования лабиринта с препятствиями и маркерами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B5D85C-DD7F-09D4-9A0C-CFF855C683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9761" y="5452423"/>
            <a:ext cx="10112477" cy="1000689"/>
          </a:xfrm>
        </p:spPr>
        <p:txBody>
          <a:bodyPr>
            <a:normAutofit/>
          </a:bodyPr>
          <a:lstStyle/>
          <a:p>
            <a:r>
              <a:rPr lang="ru-RU" dirty="0"/>
              <a:t>Команда </a:t>
            </a:r>
            <a:r>
              <a:rPr lang="en-US" dirty="0"/>
              <a:t>“</a:t>
            </a:r>
            <a:r>
              <a:rPr lang="ru-RU" dirty="0"/>
              <a:t>Тесей</a:t>
            </a:r>
            <a:r>
              <a:rPr lang="en-US" dirty="0"/>
              <a:t>”</a:t>
            </a:r>
            <a:endParaRPr lang="ru-RU" dirty="0"/>
          </a:p>
          <a:p>
            <a:r>
              <a:rPr lang="en-US" dirty="0" err="1"/>
              <a:t>RoboCup</a:t>
            </a:r>
            <a:r>
              <a:rPr lang="en-US" dirty="0"/>
              <a:t> </a:t>
            </a:r>
            <a:r>
              <a:rPr lang="en-US" dirty="0" err="1"/>
              <a:t>Runior</a:t>
            </a:r>
            <a:r>
              <a:rPr lang="en-US" dirty="0"/>
              <a:t> rescue maze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Изображение выглядит как колесо, транспортное средство, Наземный транспорт, Игрушечный транспор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C3587D-B469-18B0-157D-9291035AF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971" y="-1117498"/>
            <a:ext cx="5504767" cy="412427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12" y="135014"/>
            <a:ext cx="1409700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371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57958248-48CA-B66C-359A-AD8F5E9C56B7}"/>
              </a:ext>
            </a:extLst>
          </p:cNvPr>
          <p:cNvSpPr/>
          <p:nvPr/>
        </p:nvSpPr>
        <p:spPr>
          <a:xfrm>
            <a:off x="0" y="1016631"/>
            <a:ext cx="12239329" cy="5841369"/>
          </a:xfrm>
          <a:prstGeom prst="rect">
            <a:avLst/>
          </a:prstGeom>
          <a:solidFill>
            <a:srgbClr val="FEF5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32" name="Picture 8" descr="Rescue Leagues - RoboCupJunior">
            <a:extLst>
              <a:ext uri="{FF2B5EF4-FFF2-40B4-BE49-F238E27FC236}">
                <a16:creationId xmlns:a16="http://schemas.microsoft.com/office/drawing/2014/main" id="{A1BDCA8F-0539-CC68-C743-1CFC5CF10F7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04" b="14619"/>
          <a:stretch/>
        </p:blipFill>
        <p:spPr bwMode="auto">
          <a:xfrm>
            <a:off x="4050561" y="3730816"/>
            <a:ext cx="2835814" cy="300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950" y="78513"/>
            <a:ext cx="1409700" cy="809625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1EFF5224-F1BC-AF46-2D03-AEBCD247E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92" y="842709"/>
            <a:ext cx="10515600" cy="1325563"/>
          </a:xfrm>
        </p:spPr>
        <p:txBody>
          <a:bodyPr>
            <a:normAutofit/>
          </a:bodyPr>
          <a:lstStyle/>
          <a:p>
            <a:r>
              <a:rPr lang="ru-RU" sz="3500" dirty="0"/>
              <a:t>Актуальность – роботы для спасания людей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1E6ADF42-9495-084E-2508-9E6D022769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1026" name="Picture 2" descr="Марш спасателей: ТОП-10 роботов, которые спешат на помощь">
            <a:extLst>
              <a:ext uri="{FF2B5EF4-FFF2-40B4-BE49-F238E27FC236}">
                <a16:creationId xmlns:a16="http://schemas.microsoft.com/office/drawing/2014/main" id="{82742D3F-C49D-A8A4-7BC8-048FCD377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96" y="1895941"/>
            <a:ext cx="3750029" cy="2823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DD201427-E041-87C0-3F7D-3FFDE9A37790}"/>
              </a:ext>
            </a:extLst>
          </p:cNvPr>
          <p:cNvCxnSpPr/>
          <p:nvPr/>
        </p:nvCxnSpPr>
        <p:spPr>
          <a:xfrm>
            <a:off x="224912" y="4719322"/>
            <a:ext cx="3805437" cy="0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Как роботы спасают людей / Хабр">
            <a:extLst>
              <a:ext uri="{FF2B5EF4-FFF2-40B4-BE49-F238E27FC236}">
                <a16:creationId xmlns:a16="http://schemas.microsoft.com/office/drawing/2014/main" id="{665B2DCE-8E2A-57A7-E717-A7B78602BA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96"/>
          <a:stretch/>
        </p:blipFill>
        <p:spPr bwMode="auto">
          <a:xfrm>
            <a:off x="262491" y="4733451"/>
            <a:ext cx="3750034" cy="20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F6B143-5965-6FC0-56E1-3E0B88961872}"/>
              </a:ext>
            </a:extLst>
          </p:cNvPr>
          <p:cNvSpPr/>
          <p:nvPr/>
        </p:nvSpPr>
        <p:spPr>
          <a:xfrm>
            <a:off x="262496" y="1898689"/>
            <a:ext cx="6623880" cy="4869035"/>
          </a:xfrm>
          <a:prstGeom prst="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71F790C3-6318-FA2C-087A-3908A8232CE3}"/>
              </a:ext>
            </a:extLst>
          </p:cNvPr>
          <p:cNvCxnSpPr>
            <a:cxnSpLocks/>
          </p:cNvCxnSpPr>
          <p:nvPr/>
        </p:nvCxnSpPr>
        <p:spPr>
          <a:xfrm>
            <a:off x="4030349" y="1898689"/>
            <a:ext cx="0" cy="4869035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RCJ Rescue Maze - RoboCupJunior">
            <a:extLst>
              <a:ext uri="{FF2B5EF4-FFF2-40B4-BE49-F238E27FC236}">
                <a16:creationId xmlns:a16="http://schemas.microsoft.com/office/drawing/2014/main" id="{7CC961E0-3050-F9DF-CF51-980DF632DC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4" t="29574" r="-3280" b="31321"/>
          <a:stretch/>
        </p:blipFill>
        <p:spPr bwMode="auto">
          <a:xfrm>
            <a:off x="4072007" y="1940889"/>
            <a:ext cx="2873850" cy="173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6589C59-3312-8F5E-3CBC-CE6CE510B5FD}"/>
              </a:ext>
            </a:extLst>
          </p:cNvPr>
          <p:cNvSpPr txBox="1"/>
          <p:nvPr/>
        </p:nvSpPr>
        <p:spPr>
          <a:xfrm>
            <a:off x="8167137" y="3055226"/>
            <a:ext cx="292797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спасение людей с помощью</a:t>
            </a:r>
          </a:p>
          <a:p>
            <a:pPr algn="ctr"/>
            <a:r>
              <a:rPr lang="ru-RU" sz="2800" dirty="0"/>
              <a:t>роботов это актуальная тема</a:t>
            </a:r>
          </a:p>
          <a:p>
            <a:pPr algn="ctr"/>
            <a:r>
              <a:rPr lang="ru-RU" sz="2800" dirty="0"/>
              <a:t>современного мира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6ED9BA06-9F59-58E0-6F2D-4D6C5D254DB7}"/>
              </a:ext>
            </a:extLst>
          </p:cNvPr>
          <p:cNvSpPr/>
          <p:nvPr/>
        </p:nvSpPr>
        <p:spPr>
          <a:xfrm>
            <a:off x="7942989" y="2966683"/>
            <a:ext cx="3410811" cy="2854742"/>
          </a:xfrm>
          <a:prstGeom prst="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93CBB91C-8C7B-A6B4-8D88-C1ADD0A95B0B}"/>
              </a:ext>
            </a:extLst>
          </p:cNvPr>
          <p:cNvCxnSpPr>
            <a:cxnSpLocks/>
          </p:cNvCxnSpPr>
          <p:nvPr/>
        </p:nvCxnSpPr>
        <p:spPr>
          <a:xfrm>
            <a:off x="6886381" y="1895941"/>
            <a:ext cx="0" cy="2157949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E0891EA3-B365-48C6-D97D-C6A4F353244D}"/>
              </a:ext>
            </a:extLst>
          </p:cNvPr>
          <p:cNvCxnSpPr/>
          <p:nvPr/>
        </p:nvCxnSpPr>
        <p:spPr>
          <a:xfrm flipV="1">
            <a:off x="3983466" y="3697390"/>
            <a:ext cx="2873851" cy="11381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065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F3B6DE4-D101-D773-30AB-152AE2B85572}"/>
              </a:ext>
            </a:extLst>
          </p:cNvPr>
          <p:cNvSpPr/>
          <p:nvPr/>
        </p:nvSpPr>
        <p:spPr>
          <a:xfrm>
            <a:off x="-125363" y="984250"/>
            <a:ext cx="12668865" cy="6083300"/>
          </a:xfrm>
          <a:prstGeom prst="rect">
            <a:avLst/>
          </a:prstGeom>
          <a:solidFill>
            <a:srgbClr val="FEF5F0"/>
          </a:solidFill>
          <a:ln>
            <a:solidFill>
              <a:srgbClr val="FEF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8" name="Picture 10" descr="Competition Fields | 2023 Maze Competition">
            <a:extLst>
              <a:ext uri="{FF2B5EF4-FFF2-40B4-BE49-F238E27FC236}">
                <a16:creationId xmlns:a16="http://schemas.microsoft.com/office/drawing/2014/main" id="{B9A29766-141A-157C-467A-8A4F20C76E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55" b="8673"/>
          <a:stretch/>
        </p:blipFill>
        <p:spPr bwMode="auto">
          <a:xfrm>
            <a:off x="7820244" y="4486662"/>
            <a:ext cx="4092911" cy="220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escue Leagues - RoboCupJunior">
            <a:extLst>
              <a:ext uri="{FF2B5EF4-FFF2-40B4-BE49-F238E27FC236}">
                <a16:creationId xmlns:a16="http://schemas.microsoft.com/office/drawing/2014/main" id="{782364F0-20FB-79C1-6448-AB62B38F7F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80" b="24332"/>
          <a:stretch/>
        </p:blipFill>
        <p:spPr bwMode="auto">
          <a:xfrm>
            <a:off x="7804841" y="1855476"/>
            <a:ext cx="4108314" cy="2575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Если здание рухнет, то заделанные окна никак не помогут»: жительница  Судогды рассказала про разрушенный дом | 31.01.2025 | Владимир - БезФормата">
            <a:extLst>
              <a:ext uri="{FF2B5EF4-FFF2-40B4-BE49-F238E27FC236}">
                <a16:creationId xmlns:a16="http://schemas.microsoft.com/office/drawing/2014/main" id="{A01D86CC-8B7D-19AC-01E0-954CAA6FD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27" y="4464015"/>
            <a:ext cx="4139119" cy="232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Силы тигра» разблокировали Дейр-эз-Зор :: Политика :: Газета РБК">
            <a:extLst>
              <a:ext uri="{FF2B5EF4-FFF2-40B4-BE49-F238E27FC236}">
                <a16:creationId xmlns:a16="http://schemas.microsoft.com/office/drawing/2014/main" id="{1B4E9E23-C56A-4043-4390-77157BF52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28" y="1916866"/>
            <a:ext cx="4139119" cy="254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950" y="78513"/>
            <a:ext cx="1409700" cy="809625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1EFF5224-F1BC-AF46-2D03-AEBCD247E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92" y="842709"/>
            <a:ext cx="10515600" cy="1325563"/>
          </a:xfrm>
        </p:spPr>
        <p:txBody>
          <a:bodyPr>
            <a:normAutofit/>
          </a:bodyPr>
          <a:lstStyle/>
          <a:p>
            <a:r>
              <a:rPr lang="ru-RU" sz="3500" dirty="0"/>
              <a:t>Схожесть с реальной ситуацией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F6B143-5965-6FC0-56E1-3E0B88961872}"/>
              </a:ext>
            </a:extLst>
          </p:cNvPr>
          <p:cNvSpPr/>
          <p:nvPr/>
        </p:nvSpPr>
        <p:spPr>
          <a:xfrm>
            <a:off x="336329" y="1921661"/>
            <a:ext cx="4139119" cy="4869035"/>
          </a:xfrm>
          <a:prstGeom prst="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5F0BB0CA-C531-6F46-F087-3F500B6EA86C}"/>
              </a:ext>
            </a:extLst>
          </p:cNvPr>
          <p:cNvCxnSpPr>
            <a:cxnSpLocks/>
          </p:cNvCxnSpPr>
          <p:nvPr/>
        </p:nvCxnSpPr>
        <p:spPr>
          <a:xfrm>
            <a:off x="5168348" y="4464016"/>
            <a:ext cx="2118454" cy="0"/>
          </a:xfrm>
          <a:prstGeom prst="straightConnector1">
            <a:avLst/>
          </a:prstGeom>
          <a:ln w="76200">
            <a:solidFill>
              <a:srgbClr val="A8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0235EAC-5BF6-C33E-F259-890A497601B9}"/>
              </a:ext>
            </a:extLst>
          </p:cNvPr>
          <p:cNvSpPr/>
          <p:nvPr/>
        </p:nvSpPr>
        <p:spPr>
          <a:xfrm>
            <a:off x="7789439" y="1825625"/>
            <a:ext cx="4139119" cy="4869035"/>
          </a:xfrm>
          <a:prstGeom prst="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6EFC15D-237F-782A-679B-0C4790F44488}"/>
              </a:ext>
            </a:extLst>
          </p:cNvPr>
          <p:cNvCxnSpPr>
            <a:cxnSpLocks/>
          </p:cNvCxnSpPr>
          <p:nvPr/>
        </p:nvCxnSpPr>
        <p:spPr>
          <a:xfrm>
            <a:off x="336328" y="4475375"/>
            <a:ext cx="4139119" cy="0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B98F90B3-5069-D76B-632A-A0CA03308823}"/>
              </a:ext>
            </a:extLst>
          </p:cNvPr>
          <p:cNvCxnSpPr>
            <a:cxnSpLocks/>
          </p:cNvCxnSpPr>
          <p:nvPr/>
        </p:nvCxnSpPr>
        <p:spPr>
          <a:xfrm>
            <a:off x="7820244" y="4464015"/>
            <a:ext cx="4139119" cy="0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451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04E31EE-F2CF-12BB-29F6-22E71A352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221" y="2301042"/>
            <a:ext cx="4015735" cy="3310586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950" y="78513"/>
            <a:ext cx="1409700" cy="809625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095B1BA0-664C-1559-8DE4-40616DCA14BC}"/>
              </a:ext>
            </a:extLst>
          </p:cNvPr>
          <p:cNvSpPr/>
          <p:nvPr/>
        </p:nvSpPr>
        <p:spPr>
          <a:xfrm>
            <a:off x="232859" y="1174664"/>
            <a:ext cx="4742385" cy="863286"/>
          </a:xfrm>
          <a:prstGeom prst="roundRect">
            <a:avLst/>
          </a:prstGeom>
          <a:noFill/>
          <a:ln w="3810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EF9AA2-38D4-24CC-DC65-A71BCD3D17F7}"/>
              </a:ext>
            </a:extLst>
          </p:cNvPr>
          <p:cNvSpPr txBox="1"/>
          <p:nvPr/>
        </p:nvSpPr>
        <p:spPr>
          <a:xfrm>
            <a:off x="0" y="1283141"/>
            <a:ext cx="5208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Цель - создать робота, для прохождения лабиринта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49B9E08A-B938-9E48-B27F-DB2E69BBAA10}"/>
              </a:ext>
            </a:extLst>
          </p:cNvPr>
          <p:cNvCxnSpPr>
            <a:cxnSpLocks/>
          </p:cNvCxnSpPr>
          <p:nvPr/>
        </p:nvCxnSpPr>
        <p:spPr>
          <a:xfrm flipV="1">
            <a:off x="5208103" y="1606306"/>
            <a:ext cx="1885595" cy="3384"/>
          </a:xfrm>
          <a:prstGeom prst="straightConnector1">
            <a:avLst/>
          </a:prstGeom>
          <a:ln w="76200">
            <a:solidFill>
              <a:srgbClr val="A8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EC056469-5D93-209F-B31D-DA33211AE298}"/>
              </a:ext>
            </a:extLst>
          </p:cNvPr>
          <p:cNvSpPr/>
          <p:nvPr/>
        </p:nvSpPr>
        <p:spPr>
          <a:xfrm>
            <a:off x="7258048" y="1174664"/>
            <a:ext cx="4742385" cy="863286"/>
          </a:xfrm>
          <a:prstGeom prst="roundRect">
            <a:avLst/>
          </a:prstGeom>
          <a:noFill/>
          <a:ln w="3810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53A21C-34B5-BBFF-450E-6779D6805DB0}"/>
              </a:ext>
            </a:extLst>
          </p:cNvPr>
          <p:cNvSpPr txBox="1"/>
          <p:nvPr/>
        </p:nvSpPr>
        <p:spPr>
          <a:xfrm>
            <a:off x="7025187" y="1376363"/>
            <a:ext cx="5208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Анализ аналогов</a:t>
            </a:r>
          </a:p>
        </p:txBody>
      </p:sp>
      <p:pic>
        <p:nvPicPr>
          <p:cNvPr id="3076" name="Picture 4" descr="Robocup Junior 2018 Montreal Rescue Maze | Team liptoveffect.eu">
            <a:extLst>
              <a:ext uri="{FF2B5EF4-FFF2-40B4-BE49-F238E27FC236}">
                <a16:creationId xmlns:a16="http://schemas.microsoft.com/office/drawing/2014/main" id="{37D677AC-7F2E-FDEB-24A3-B0F7A4BBD7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04" t="25618" r="36663" b="13775"/>
          <a:stretch/>
        </p:blipFill>
        <p:spPr bwMode="auto">
          <a:xfrm>
            <a:off x="804832" y="2271290"/>
            <a:ext cx="3495390" cy="334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8695FCB-7FC6-C185-9B93-127346FA4166}"/>
              </a:ext>
            </a:extLst>
          </p:cNvPr>
          <p:cNvSpPr/>
          <p:nvPr/>
        </p:nvSpPr>
        <p:spPr>
          <a:xfrm>
            <a:off x="804832" y="2269039"/>
            <a:ext cx="10673425" cy="3344669"/>
          </a:xfrm>
          <a:prstGeom prst="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Рисунок 19" descr="Изображение выглядит как колесо, автокомпонент, шина, Масштабная модел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F6B5075-955E-290B-B9C6-0162E3A161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74" y="2697299"/>
            <a:ext cx="3236843" cy="2329569"/>
          </a:xfrm>
          <a:prstGeom prst="rect">
            <a:avLst/>
          </a:prstGeom>
        </p:spPr>
      </p:pic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511DC241-F22B-6637-0744-DAF20DE6C3A2}"/>
              </a:ext>
            </a:extLst>
          </p:cNvPr>
          <p:cNvSpPr/>
          <p:nvPr/>
        </p:nvSpPr>
        <p:spPr>
          <a:xfrm>
            <a:off x="3936895" y="5839334"/>
            <a:ext cx="4742385" cy="863286"/>
          </a:xfrm>
          <a:prstGeom prst="roundRect">
            <a:avLst/>
          </a:prstGeom>
          <a:noFill/>
          <a:ln w="3810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2E0A2D-80E5-4ACB-71E3-922F751E4AEF}"/>
              </a:ext>
            </a:extLst>
          </p:cNvPr>
          <p:cNvSpPr txBox="1"/>
          <p:nvPr/>
        </p:nvSpPr>
        <p:spPr>
          <a:xfrm>
            <a:off x="4387982" y="6090465"/>
            <a:ext cx="3988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Создание концепции своего робота</a:t>
            </a:r>
          </a:p>
        </p:txBody>
      </p:sp>
    </p:spTree>
    <p:extLst>
      <p:ext uri="{BB962C8B-B14F-4D97-AF65-F5344CB8AC3E}">
        <p14:creationId xmlns:p14="http://schemas.microsoft.com/office/powerpoint/2010/main" val="3316282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287" y="43299"/>
            <a:ext cx="1409700" cy="809625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D48B7A1-1C8C-4597-A5A3-26BABFED7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704" y="1813583"/>
            <a:ext cx="2036321" cy="1205057"/>
          </a:xfrm>
        </p:spPr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AB3CDF2-34B2-0E56-3105-B5EDE416B7FA}"/>
              </a:ext>
            </a:extLst>
          </p:cNvPr>
          <p:cNvSpPr/>
          <p:nvPr/>
        </p:nvSpPr>
        <p:spPr>
          <a:xfrm>
            <a:off x="1040254" y="1907140"/>
            <a:ext cx="2207771" cy="1034716"/>
          </a:xfrm>
          <a:prstGeom prst="round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2F71D96C-F2D3-74A3-1DAE-9116A5034A30}"/>
              </a:ext>
            </a:extLst>
          </p:cNvPr>
          <p:cNvCxnSpPr>
            <a:cxnSpLocks/>
          </p:cNvCxnSpPr>
          <p:nvPr/>
        </p:nvCxnSpPr>
        <p:spPr>
          <a:xfrm>
            <a:off x="2167973" y="3221582"/>
            <a:ext cx="0" cy="1249826"/>
          </a:xfrm>
          <a:prstGeom prst="straightConnector1">
            <a:avLst/>
          </a:prstGeom>
          <a:ln w="76200">
            <a:solidFill>
              <a:srgbClr val="A8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743F78F-DAF6-7C98-0A85-25287BA1207D}"/>
              </a:ext>
            </a:extLst>
          </p:cNvPr>
          <p:cNvSpPr/>
          <p:nvPr/>
        </p:nvSpPr>
        <p:spPr>
          <a:xfrm>
            <a:off x="1064087" y="4773394"/>
            <a:ext cx="2207771" cy="1034716"/>
          </a:xfrm>
          <a:prstGeom prst="round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Заголовок 4">
            <a:extLst>
              <a:ext uri="{FF2B5EF4-FFF2-40B4-BE49-F238E27FC236}">
                <a16:creationId xmlns:a16="http://schemas.microsoft.com/office/drawing/2014/main" id="{7A6CFCFB-6784-1E99-76E0-5CAB920A56F3}"/>
              </a:ext>
            </a:extLst>
          </p:cNvPr>
          <p:cNvSpPr txBox="1">
            <a:spLocks/>
          </p:cNvSpPr>
          <p:nvPr/>
        </p:nvSpPr>
        <p:spPr>
          <a:xfrm>
            <a:off x="1306955" y="4696610"/>
            <a:ext cx="1864870" cy="12050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Схема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6FD2B1F-93D2-2E5C-33C8-2F7C82D6D2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456"/>
          <a:stretch/>
        </p:blipFill>
        <p:spPr>
          <a:xfrm>
            <a:off x="4565056" y="1386913"/>
            <a:ext cx="6493468" cy="520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1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Изображение выглядит как колесо, транспортное средство, Наземный транспорт, Игрушечный транспор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C3587D-B469-18B0-157D-9291035AF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971" y="-1117498"/>
            <a:ext cx="5504767" cy="412427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12" y="135014"/>
            <a:ext cx="1409700" cy="809625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26E38C4B-21FE-B28B-8FA7-B5580ECB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72" y="1462618"/>
            <a:ext cx="11130476" cy="569811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Разработка конструкции</a:t>
            </a:r>
          </a:p>
        </p:txBody>
      </p:sp>
      <p:pic>
        <p:nvPicPr>
          <p:cNvPr id="25" name="Рисунок 24" descr="Изображение выглядит как колесо, Масштабная модель, игрушка, транспортное сред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DB71276-004B-443F-ADA2-23651299DD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7314" y="2195512"/>
            <a:ext cx="6394040" cy="3921973"/>
          </a:xfrm>
          <a:prstGeom prst="rect">
            <a:avLst/>
          </a:prstGeom>
        </p:spPr>
      </p:pic>
      <p:pic>
        <p:nvPicPr>
          <p:cNvPr id="27" name="Рисунок 26" descr="Изображение выглядит как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DB6F6B5-23AC-C41F-9862-59B67BF76C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019" y="3914467"/>
            <a:ext cx="2430018" cy="230961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E4B3AB0-30FA-C876-F261-F193046DFE2F}"/>
              </a:ext>
            </a:extLst>
          </p:cNvPr>
          <p:cNvSpPr txBox="1"/>
          <p:nvPr/>
        </p:nvSpPr>
        <p:spPr>
          <a:xfrm>
            <a:off x="6545695" y="3767340"/>
            <a:ext cx="1678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Ходовая часть</a:t>
            </a:r>
          </a:p>
          <a:p>
            <a:endParaRPr lang="ru-RU" dirty="0"/>
          </a:p>
        </p:txBody>
      </p:sp>
      <p:pic>
        <p:nvPicPr>
          <p:cNvPr id="30" name="Рисунок 29" descr="Изображение выглядит как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ABC6804-2EFF-49EB-1BFE-9D12C620B6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544" y="2353936"/>
            <a:ext cx="2749807" cy="145183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DD65984-7D93-A4F4-262C-3F347E49C638}"/>
              </a:ext>
            </a:extLst>
          </p:cNvPr>
          <p:cNvSpPr txBox="1"/>
          <p:nvPr/>
        </p:nvSpPr>
        <p:spPr>
          <a:xfrm>
            <a:off x="6428082" y="2231075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Передняя часть</a:t>
            </a:r>
          </a:p>
        </p:txBody>
      </p:sp>
      <p:pic>
        <p:nvPicPr>
          <p:cNvPr id="37" name="Рисунок 36" descr="Изображение выглядит как крас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316C328-5CDF-CE49-EC1D-705FAD149F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230" y="2384806"/>
            <a:ext cx="2718028" cy="180398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8838C-8138-6FCD-EA1A-ECB0166E7757}"/>
              </a:ext>
            </a:extLst>
          </p:cNvPr>
          <p:cNvSpPr txBox="1"/>
          <p:nvPr/>
        </p:nvSpPr>
        <p:spPr>
          <a:xfrm>
            <a:off x="9699689" y="2380326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Задняя часть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3A04B501-76FC-92F8-2400-166477B65A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791" y="3809662"/>
            <a:ext cx="4595560" cy="2696756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5A6E00E-43B2-66C5-E10C-7431BE4E0251}"/>
              </a:ext>
            </a:extLst>
          </p:cNvPr>
          <p:cNvSpPr txBox="1"/>
          <p:nvPr/>
        </p:nvSpPr>
        <p:spPr>
          <a:xfrm>
            <a:off x="9385839" y="4364164"/>
            <a:ext cx="1968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Система выдачи</a:t>
            </a:r>
          </a:p>
        </p:txBody>
      </p:sp>
    </p:spTree>
    <p:extLst>
      <p:ext uri="{BB962C8B-B14F-4D97-AF65-F5344CB8AC3E}">
        <p14:creationId xmlns:p14="http://schemas.microsoft.com/office/powerpoint/2010/main" val="168749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Изображение выглядит как колесо, транспортное средство, Наземный транспорт, Игрушечный транспор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C3587D-B469-18B0-157D-9291035AF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971" y="-1117498"/>
            <a:ext cx="5504767" cy="412427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12" y="135014"/>
            <a:ext cx="1409700" cy="80962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BA734C2-450F-3826-140B-3EA794B80E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3" b="30942"/>
          <a:stretch/>
        </p:blipFill>
        <p:spPr>
          <a:xfrm>
            <a:off x="675622" y="2525048"/>
            <a:ext cx="4862204" cy="2986038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шестерня, металлоизделия, колесо, транспор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FB26283-5A5A-6FEE-9DDB-B69E9BE6DC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3" r="9403" b="31345"/>
          <a:stretch/>
        </p:blipFill>
        <p:spPr>
          <a:xfrm>
            <a:off x="6241516" y="2525046"/>
            <a:ext cx="5274862" cy="3144204"/>
          </a:xfrm>
          <a:prstGeom prst="rect">
            <a:avLst/>
          </a:prstGeom>
        </p:spPr>
      </p:pic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C97A1DE8-C1F7-D0F9-20EE-82885D58A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26" y="1174360"/>
            <a:ext cx="10515600" cy="1325563"/>
          </a:xfrm>
        </p:spPr>
        <p:txBody>
          <a:bodyPr/>
          <a:lstStyle/>
          <a:p>
            <a:r>
              <a:rPr lang="ru-RU" dirty="0"/>
              <a:t>Способ преодоления препятствий</a:t>
            </a:r>
            <a:br>
              <a:rPr lang="ru-RU" dirty="0"/>
            </a:br>
            <a:r>
              <a:rPr lang="ru-RU" dirty="0"/>
              <a:t>До                                                  После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8CAD51A-5D9D-9BB6-BE81-C39FEA92ED7B}"/>
              </a:ext>
            </a:extLst>
          </p:cNvPr>
          <p:cNvSpPr/>
          <p:nvPr/>
        </p:nvSpPr>
        <p:spPr>
          <a:xfrm>
            <a:off x="418916" y="2539437"/>
            <a:ext cx="5118910" cy="3144203"/>
          </a:xfrm>
          <a:prstGeom prst="rect">
            <a:avLst/>
          </a:prstGeom>
          <a:noFill/>
          <a:ln w="41275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CC19656-698A-547A-35B4-8BD103A36820}"/>
              </a:ext>
            </a:extLst>
          </p:cNvPr>
          <p:cNvSpPr/>
          <p:nvPr/>
        </p:nvSpPr>
        <p:spPr>
          <a:xfrm>
            <a:off x="6397468" y="2518704"/>
            <a:ext cx="5118910" cy="3144203"/>
          </a:xfrm>
          <a:prstGeom prst="rect">
            <a:avLst/>
          </a:prstGeom>
          <a:noFill/>
          <a:ln w="41275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5280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Изображение выглядит как колесо, транспортное средство, Наземный транспорт, Игрушечный транспор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C3587D-B469-18B0-157D-9291035AF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921" y="-1117499"/>
            <a:ext cx="5504767" cy="412427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12" y="135014"/>
            <a:ext cx="1409700" cy="809625"/>
          </a:xfrm>
          <a:prstGeom prst="rect">
            <a:avLst/>
          </a:prstGeom>
        </p:spPr>
      </p:pic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C97A1DE8-C1F7-D0F9-20EE-82885D58A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912" y="1061884"/>
            <a:ext cx="10956422" cy="1325563"/>
          </a:xfrm>
          <a:solidFill>
            <a:schemeClr val="bg1">
              <a:alpha val="0"/>
            </a:schemeClr>
          </a:solidFill>
        </p:spPr>
        <p:txBody>
          <a:bodyPr/>
          <a:lstStyle/>
          <a:p>
            <a:r>
              <a:rPr lang="ru-RU" dirty="0"/>
              <a:t>Программное обеспечение для </a:t>
            </a:r>
            <a:r>
              <a:rPr lang="en-US" dirty="0"/>
              <a:t>Arduino</a:t>
            </a:r>
            <a:endParaRPr lang="ru-RU" dirty="0"/>
          </a:p>
        </p:txBody>
      </p:sp>
      <p:pic>
        <p:nvPicPr>
          <p:cNvPr id="9" name="Рисунок 8" descr="Изображение выглядит как электроника, Электронная техника, Электронный компонент, Компонент схемы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88FA179-0B2A-05D7-5645-B352BC775F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142" y="4609768"/>
            <a:ext cx="3561269" cy="2372696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19A4EA9-15D4-558C-E737-E887CD5E5F6D}"/>
              </a:ext>
            </a:extLst>
          </p:cNvPr>
          <p:cNvSpPr/>
          <p:nvPr/>
        </p:nvSpPr>
        <p:spPr>
          <a:xfrm>
            <a:off x="6134369" y="2439351"/>
            <a:ext cx="4819863" cy="3946064"/>
          </a:xfrm>
          <a:prstGeom prst="rect">
            <a:avLst/>
          </a:prstGeom>
          <a:solidFill>
            <a:schemeClr val="bg1"/>
          </a:solidFill>
          <a:ln w="3810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 descr="Изображение выглядит как текст, снимок экрана, диаграмм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B3E363E-3F1C-EE60-1D8B-A70B295A29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042" y="2498425"/>
            <a:ext cx="4568516" cy="3827916"/>
          </a:xfrm>
          <a:prstGeom prst="rect">
            <a:avLst/>
          </a:prstGeom>
        </p:spPr>
      </p:pic>
      <p:pic>
        <p:nvPicPr>
          <p:cNvPr id="16" name="Объект 8" descr="Изображение выглядит как электроника, Электронный компонент, Компонент схемы, Электронная техн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C7AB9EC-4408-15F4-DC2C-C8606ED6D5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527" y="1905002"/>
            <a:ext cx="2730497" cy="2047873"/>
          </a:xfrm>
          <a:prstGeom prst="rect">
            <a:avLst/>
          </a:prstGeom>
        </p:spPr>
      </p:pic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270FB210-B2AA-162A-BA24-1EA153FA4C96}"/>
              </a:ext>
            </a:extLst>
          </p:cNvPr>
          <p:cNvCxnSpPr>
            <a:cxnSpLocks/>
          </p:cNvCxnSpPr>
          <p:nvPr/>
        </p:nvCxnSpPr>
        <p:spPr>
          <a:xfrm>
            <a:off x="2453723" y="3984855"/>
            <a:ext cx="0" cy="1249826"/>
          </a:xfrm>
          <a:prstGeom prst="straightConnector1">
            <a:avLst/>
          </a:prstGeom>
          <a:ln w="76200">
            <a:solidFill>
              <a:srgbClr val="A8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D416D206-C49E-CF4C-1B5B-A761960B0906}"/>
              </a:ext>
            </a:extLst>
          </p:cNvPr>
          <p:cNvCxnSpPr>
            <a:cxnSpLocks/>
          </p:cNvCxnSpPr>
          <p:nvPr/>
        </p:nvCxnSpPr>
        <p:spPr>
          <a:xfrm flipV="1">
            <a:off x="3079024" y="3672581"/>
            <a:ext cx="0" cy="1251844"/>
          </a:xfrm>
          <a:prstGeom prst="straightConnector1">
            <a:avLst/>
          </a:prstGeom>
          <a:ln w="76200">
            <a:solidFill>
              <a:srgbClr val="A8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411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Изображение выглядит как колесо, транспортное средство, Наземный транспорт, Игрушечный транспор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C3587D-B469-18B0-157D-9291035AF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921" y="-1117499"/>
            <a:ext cx="5504767" cy="412427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12" y="135014"/>
            <a:ext cx="1409700" cy="809625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черный, темнота, пространство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6065F4B-3095-5AD6-95BB-6EB08200B3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828" y="4613100"/>
            <a:ext cx="4241202" cy="1341091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круг, снимок экрана, Красочность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B3826CD-2861-4142-E2AF-DEB0E80EAB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65093"/>
            <a:ext cx="4931681" cy="225857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272AC0B-1015-2B25-AE53-13D9231F9A51}"/>
              </a:ext>
            </a:extLst>
          </p:cNvPr>
          <p:cNvSpPr txBox="1"/>
          <p:nvPr/>
        </p:nvSpPr>
        <p:spPr>
          <a:xfrm>
            <a:off x="183384" y="1264888"/>
            <a:ext cx="107989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/>
              <a:t>Программное обеспечение для </a:t>
            </a:r>
            <a:r>
              <a:rPr lang="en-US" sz="4400" dirty="0"/>
              <a:t>Raspberry</a:t>
            </a:r>
            <a:endParaRPr lang="ru-RU" sz="4400" dirty="0"/>
          </a:p>
        </p:txBody>
      </p:sp>
      <p:pic>
        <p:nvPicPr>
          <p:cNvPr id="4098" name="Picture 2" descr="Robocup Junior Maze">
            <a:extLst>
              <a:ext uri="{FF2B5EF4-FFF2-40B4-BE49-F238E27FC236}">
                <a16:creationId xmlns:a16="http://schemas.microsoft.com/office/drawing/2014/main" id="{CA069A0B-647D-8081-37BF-73E890B03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280" y="2749174"/>
            <a:ext cx="4505694" cy="3205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7498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973F4132-CDD0-A841-E437-6057E21B64DA}"/>
              </a:ext>
            </a:extLst>
          </p:cNvPr>
          <p:cNvSpPr/>
          <p:nvPr/>
        </p:nvSpPr>
        <p:spPr>
          <a:xfrm>
            <a:off x="3143250" y="2057400"/>
            <a:ext cx="5876925" cy="106680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Изображение выглядит как колесо, транспортное средство, Наземный транспорт, Игрушечный транспор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C3587D-B469-18B0-157D-9291035AF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921" y="-1117499"/>
            <a:ext cx="5504767" cy="412427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12" y="135014"/>
            <a:ext cx="1409700" cy="809625"/>
          </a:xfrm>
          <a:prstGeom prst="rect">
            <a:avLst/>
          </a:prstGeom>
        </p:spPr>
      </p:pic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C97A1DE8-C1F7-D0F9-20EE-82885D58A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74" y="1933575"/>
            <a:ext cx="5504767" cy="1333500"/>
          </a:xfrm>
        </p:spPr>
        <p:txBody>
          <a:bodyPr>
            <a:normAutofit/>
          </a:bodyPr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AC4BBF-6B59-BA1A-DE0A-9039999C3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0050" y="4124324"/>
            <a:ext cx="11392511" cy="2276475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dirty="0"/>
              <a:t>Участники</a:t>
            </a:r>
            <a:r>
              <a:rPr lang="en-US" dirty="0"/>
              <a:t>: </a:t>
            </a:r>
            <a:endParaRPr lang="ru-RU" dirty="0"/>
          </a:p>
          <a:p>
            <a:pPr marL="0" indent="0" algn="ctr">
              <a:buNone/>
            </a:pPr>
            <a:r>
              <a:rPr lang="ru-RU" dirty="0"/>
              <a:t>Лев Гарин, Каверзнев Дмитрий</a:t>
            </a:r>
          </a:p>
          <a:p>
            <a:pPr marL="0" indent="0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Преподаватели</a:t>
            </a:r>
            <a:r>
              <a:rPr lang="en-US" dirty="0"/>
              <a:t>: </a:t>
            </a:r>
            <a:endParaRPr lang="ru-RU" dirty="0"/>
          </a:p>
          <a:p>
            <a:pPr marL="0" indent="0" algn="ctr">
              <a:buNone/>
            </a:pPr>
            <a:r>
              <a:rPr lang="ru-RU" dirty="0"/>
              <a:t>Мерзлякова Юлия Игоревна, </a:t>
            </a:r>
          </a:p>
          <a:p>
            <a:pPr marL="0" indent="0" algn="ctr">
              <a:buNone/>
            </a:pPr>
            <a:r>
              <a:rPr lang="ru-RU" dirty="0"/>
              <a:t>Викторов Борис Викторевич</a:t>
            </a:r>
          </a:p>
        </p:txBody>
      </p:sp>
    </p:spTree>
    <p:extLst>
      <p:ext uri="{BB962C8B-B14F-4D97-AF65-F5344CB8AC3E}">
        <p14:creationId xmlns:p14="http://schemas.microsoft.com/office/powerpoint/2010/main" val="39709714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632</Words>
  <Application>Microsoft Office PowerPoint</Application>
  <PresentationFormat>Широкоэкранный</PresentationFormat>
  <Paragraphs>57</Paragraphs>
  <Slides>10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Тема Office</vt:lpstr>
      <vt:lpstr>Создание робота для исследования лабиринта с препятствиями и маркерами </vt:lpstr>
      <vt:lpstr>Актуальность – роботы для спасания людей</vt:lpstr>
      <vt:lpstr>Схожесть с реальной ситуацией</vt:lpstr>
      <vt:lpstr>Презентация PowerPoint</vt:lpstr>
      <vt:lpstr>Задача</vt:lpstr>
      <vt:lpstr>Разработка конструкции</vt:lpstr>
      <vt:lpstr>Способ преодоления препятствий До                                                  После</vt:lpstr>
      <vt:lpstr>Программное обеспечение для Arduino</vt:lpstr>
      <vt:lpstr>Презентация PowerPoint</vt:lpstr>
      <vt:lpstr>Спасибо за внимание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 Garin</dc:creator>
  <cp:lastModifiedBy>Lev Garin</cp:lastModifiedBy>
  <cp:revision>2</cp:revision>
  <dcterms:created xsi:type="dcterms:W3CDTF">2026-05-03T13:16:17Z</dcterms:created>
  <dcterms:modified xsi:type="dcterms:W3CDTF">2026-05-04T15:18:43Z</dcterms:modified>
</cp:coreProperties>
</file>